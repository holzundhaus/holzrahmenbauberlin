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rahmenbauberlin.wordpress.com/2026/10/30/nachtraegliche-eingriffe-holzrahmenbauwand-planen/" TargetMode="External"/><Relationship Id="rId3" Type="http://schemas.openxmlformats.org/officeDocument/2006/relationships/hyperlink" Target="https://holzundhaus.github.io/holzrahmenbauberlin/dateien/minimax-58e273fccad40cf51eb150a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Nachträgliche Eingriffe in Holzrahmenbauwände: Was vor jeder Aussparung zu prüfen ist · Erklärende Präsentation</a:t>
            </a:r>
          </a:p>
        </p:txBody>
      </p:sp>
      <p:sp>
        <p:nvSpPr>
          <p:cNvPr id="3" name="Content Placeholder 2"/>
          <p:cNvSpPr>
            <a:spLocks noGrp="1"/>
          </p:cNvSpPr>
          <p:nvPr>
            <p:ph idx="1"/>
          </p:nvPr>
        </p:nvSpPr>
        <p:spPr/>
        <p:txBody>
          <a:bodyPr/>
          <a:lstStyle/>
          <a:p>
            <a:r>
              <a:t>Überblick: Nachträgliche Aussparungen in Holzrahmenbauwänden sind mehr als eine handwerkliche Öffnung: Sie können Tragwerk, Aussteifung, Luftdichtheit sowie Brand- und Schallschutz gleichzeitig betreffen. Dieser Leitfaden richtet den Blick auf die Entscheidungen vor dem Sägeblatt und zeigt, wie sich Eingriffe am Bestand vorbereiten, dokumentieren und koordinieren lassen. Er ergänzt den allgemeinen Wandaufbau-Ratgeber um einen praxisnahen Ablauf für die Planung einzelner Durchdringungen und größerer Öffnungen.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Eingriff beginnt mit der Bestandsaufnahme</a:t>
            </a:r>
          </a:p>
        </p:txBody>
      </p:sp>
      <p:sp>
        <p:nvSpPr>
          <p:cNvPr id="3" name="Content Placeholder 2"/>
          <p:cNvSpPr>
            <a:spLocks noGrp="1"/>
          </p:cNvSpPr>
          <p:nvPr>
            <p:ph idx="1"/>
          </p:nvPr>
        </p:nvSpPr>
        <p:spPr/>
        <p:txBody>
          <a:bodyPr/>
          <a:lstStyle/>
          <a:p>
            <a:pPr>
              <a:defRPr sz="1800"/>
            </a:pPr>
            <a:r>
              <a:t>Vor der Planung muss der tatsächliche Aufbau der betroffenen Wand bekannt sein. Dazu gehören die Lage und Materialität der Beplankung, Ständer und Querriegel sowie bereits vorhandene Leitungen im Gefach. In Bestandsgebäuden können reale Abstände von den Planangaben abweichen. Auch Anschlüsse an Sockel, Decke und Fenstern verdienen Aufmerksamkeit, damit ihre Funktion beim Öffnen der Wand nicht unbemerkt unterbrochen wird. Die wichtigste Grundsatzfrage lautet: Welche Schicht übernimmt welche Aufgabe? Eine Platte kann zugleich Raumabschluss, Brandschutzbekleidung und aussteifende Scheibe sein. Wird sie durchtrennt, entfällt möglicherweise nicht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Eingriff beginnt mit der Bestandsaufnahme</a:t>
            </a:r>
          </a:p>
        </p:txBody>
      </p:sp>
      <p:sp>
        <p:nvSpPr>
          <p:cNvPr id="3" name="Content Placeholder 2"/>
          <p:cNvSpPr>
            <a:spLocks noGrp="1"/>
          </p:cNvSpPr>
          <p:nvPr>
            <p:ph idx="1"/>
          </p:nvPr>
        </p:nvSpPr>
        <p:spPr/>
        <p:txBody>
          <a:bodyPr/>
          <a:lstStyle/>
          <a:p>
            <a:pPr>
              <a:defRPr sz="1800"/>
            </a:pPr>
            <a:r>
              <a:t>nur ihre sichtbare Funktion, sondern auch eine technisch erforderliche Wirkung. Angaben aus der Werkstatt sollten daher durch eine Prüfung am konkreten Bauteil ergänzt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Installationsebene gemeinsam prüfen</a:t>
            </a:r>
          </a:p>
        </p:txBody>
      </p:sp>
      <p:sp>
        <p:nvSpPr>
          <p:cNvPr id="3" name="Content Placeholder 2"/>
          <p:cNvSpPr>
            <a:spLocks noGrp="1"/>
          </p:cNvSpPr>
          <p:nvPr>
            <p:ph idx="1"/>
          </p:nvPr>
        </p:nvSpPr>
        <p:spPr/>
        <p:txBody>
          <a:bodyPr/>
          <a:lstStyle/>
          <a:p>
            <a:pPr>
              <a:defRPr sz="1800"/>
            </a:pPr>
            <a:r>
              <a:t>Steht die geplante Aussparung im Bereich eines Ständers, einer Schwelle oder eines Rähmleisters, ist eine tragwerksplanerische Bewertung erforderlich. Das gilt auch bei größeren Öffnungen in einer aussteifenden Beplankung. Verstärkungen können je nach Wandaufbau und Eingriff eine Wechselkonstruktion oder zusätzliche Querverstrebung erfordern; konkrete Ausführungsdetails müssen projektbezogen festgelegt werden. Parallel ist zu prüfen, ob eine separate Installationsebene zwischen raumseitiger Bekleidung und luftdichter Schicht vorhanden ist. Kann der Eingriff dorthin verlagert werden, bleibt die aussteifende Beplankung unversehrt. Vor der Ausfü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Installationsebene gemeinsam prüfen</a:t>
            </a:r>
          </a:p>
        </p:txBody>
      </p:sp>
      <p:sp>
        <p:nvSpPr>
          <p:cNvPr id="3" name="Content Placeholder 2"/>
          <p:cNvSpPr>
            <a:spLocks noGrp="1"/>
          </p:cNvSpPr>
          <p:nvPr>
            <p:ph idx="1"/>
          </p:nvPr>
        </p:nvSpPr>
        <p:spPr/>
        <p:txBody>
          <a:bodyPr/>
          <a:lstStyle/>
          <a:p>
            <a:pPr>
              <a:defRPr sz="1800"/>
            </a:pPr>
            <a:r>
              <a:t>hrung sind außerdem bestehende Elektro-, Sanitär- und Heizungsleitungen zu lokalisieren. Der Ratgeber zum Wandaufbau hilft dabei, die einzelnen Schichten und ihre Funktionen besser voneinander zu unterscheiden.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Wärmeschutz und Feuchteschutz</a:t>
            </a:r>
          </a:p>
        </p:txBody>
      </p:sp>
      <p:sp>
        <p:nvSpPr>
          <p:cNvPr id="3" name="Content Placeholder 2"/>
          <p:cNvSpPr>
            <a:spLocks noGrp="1"/>
          </p:cNvSpPr>
          <p:nvPr>
            <p:ph idx="1"/>
          </p:nvPr>
        </p:nvSpPr>
        <p:spPr/>
        <p:txBody>
          <a:bodyPr/>
          <a:lstStyle/>
          <a:p>
            <a:pPr>
              <a:defRPr sz="1800"/>
            </a:pPr>
            <a:r>
              <a:t>Jede Öffnung in der luftdichten Ebene verändert das Raumklima und kann einen konvektiven Feuchtetransport in kühlere Wandbereiche begünstigen. Eine durchgehende luftdichte Schicht muss daher nicht nur vorhanden, sondern auch funktionsfähig sein. Dichtungen, Anschlussmittel und Materialien müssen zum vorhandenen Aufbau passen. Bei Steckdosen und Leitungsdurchführungen ist die gesamte Durchdringung zu betrachten; mehrere kleinere Öffnungen können in ihrer Summe erheblich wirken. Zu prüfen ist außerdem, wo durch das Öffnen neue Materialwechsel und Wärmebrücken entstehen. Die luftdichte Ebene muss nicht automatisch stark dampfsperrend sein, doch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Wärmeschutz und Feuchteschutz</a:t>
            </a:r>
          </a:p>
        </p:txBody>
      </p:sp>
      <p:sp>
        <p:nvSpPr>
          <p:cNvPr id="3" name="Content Placeholder 2"/>
          <p:cNvSpPr>
            <a:spLocks noGrp="1"/>
          </p:cNvSpPr>
          <p:nvPr>
            <p:ph idx="1"/>
          </p:nvPr>
        </p:nvSpPr>
        <p:spPr/>
        <p:txBody>
          <a:bodyPr/>
          <a:lstStyle/>
          <a:p>
            <a:pPr>
              <a:defRPr sz="1800"/>
            </a:pPr>
            <a:r>
              <a:t>ihre Funktion und ihr Zusammenspiel mit den übrigen Schichten müssen erhalten bleiben. Ergänzende Hinweise zum Wandaufbau geben Aufschluss über die Rolle einzelner Lagen, ersetzen aber keine Prüfung des vorhandenen Bauteils.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 und Schallschutz nicht nur optisch wiederherstellen</a:t>
            </a:r>
          </a:p>
        </p:txBody>
      </p:sp>
      <p:sp>
        <p:nvSpPr>
          <p:cNvPr id="3" name="Content Placeholder 2"/>
          <p:cNvSpPr>
            <a:spLocks noGrp="1"/>
          </p:cNvSpPr>
          <p:nvPr>
            <p:ph idx="1"/>
          </p:nvPr>
        </p:nvSpPr>
        <p:spPr/>
        <p:txBody>
          <a:bodyPr/>
          <a:lstStyle/>
          <a:p>
            <a:pPr>
              <a:defRPr sz="1800"/>
            </a:pPr>
            <a:r>
              <a:t>Eine nachträglich verkleidete Öffnung wirkt nicht automatisch wie die ursprüngliche Brandschutz- oder Schallschutzkonstruktion. Bekleidungen können brandschutztechnische Anforderungen erfüllen und zugleich die Schalldämmung beeinflussen. Entscheidend ist deshalb, ob die Wiederherstellung den Anforderungen des jeweiligen Bauteils und einem vorhandenen Nachweis entspricht. Eine saubere Schnittkante genügt dafür nicht. Auch Rohrdurchführungen und größere Aussparungen verändern die bauphysikalischen Bedingungen. Werden brandschutztechnisch oder schalltechnisch relevante Bauteile geöffnet, gehören die betroffenen Fachplanenden frühzeitig in die Ab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 und Schallschutz nicht nur optisch wiederherstellen</a:t>
            </a:r>
          </a:p>
        </p:txBody>
      </p:sp>
      <p:sp>
        <p:nvSpPr>
          <p:cNvPr id="3" name="Content Placeholder 2"/>
          <p:cNvSpPr>
            <a:spLocks noGrp="1"/>
          </p:cNvSpPr>
          <p:nvPr>
            <p:ph idx="1"/>
          </p:nvPr>
        </p:nvSpPr>
        <p:spPr/>
        <p:txBody>
          <a:bodyPr/>
          <a:lstStyle/>
          <a:p>
            <a:pPr>
              <a:defRPr sz="1800"/>
            </a:pPr>
            <a:r>
              <a:t>stimmung. Die Prüfung sollte vor der Ausführung erfolgen, damit Materialien, Anschlüsse und Aufbau aufeinander abgestimmt werden können. Unzulässige Annahmen über die Einstufung einzelner Platten oder Bekleidungen sind dabei zu vermeiden.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Sechs Schritte bis zur Ausführung</a:t>
            </a:r>
          </a:p>
        </p:txBody>
      </p:sp>
      <p:sp>
        <p:nvSpPr>
          <p:cNvPr id="3" name="Content Placeholder 2"/>
          <p:cNvSpPr>
            <a:spLocks noGrp="1"/>
          </p:cNvSpPr>
          <p:nvPr>
            <p:ph idx="1"/>
          </p:nvPr>
        </p:nvSpPr>
        <p:spPr/>
        <p:txBody>
          <a:bodyPr/>
          <a:lstStyle/>
          <a:p>
            <a:pPr>
              <a:defRPr sz="1800"/>
            </a:pPr>
            <a:r>
              <a:t>Für einen kontrollierten Eingriff bietet sich ein klarer Ablauf an: erstens Lage und Größe der Öffnung mit den betroffenen Gewerken abstimmen; zweitens den realen Wandaufbau prüfen; drittens Aussteifung, Luftdichtheit, Brand- und Schallschutz zuordnen; viertens prüfen, ob eine andere Schicht oder Installationsebene geeignet ist; fünftens Verstärkung, Abdichtung und Anschlussmittel planen; und sechstens die Ausführung durch geeignete Fachbetriebe sowie eine anschließende Sichtprüfung und gegebenenfalls einen Luftdichtheitstest veranlassen. Materialstärken, Verbindungsmittelabstände und Detailzeichnungen lassen sich nicht pauschal festlegen. Si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Sechs Schritte bis zur Ausführung</a:t>
            </a:r>
          </a:p>
        </p:txBody>
      </p:sp>
      <p:sp>
        <p:nvSpPr>
          <p:cNvPr id="3" name="Content Placeholder 2"/>
          <p:cNvSpPr>
            <a:spLocks noGrp="1"/>
          </p:cNvSpPr>
          <p:nvPr>
            <p:ph idx="1"/>
          </p:nvPr>
        </p:nvSpPr>
        <p:spPr/>
        <p:txBody>
          <a:bodyPr/>
          <a:lstStyle/>
          <a:p>
            <a:pPr>
              <a:defRPr sz="1800"/>
            </a:pPr>
            <a:r>
              <a:t>e hängen vom konkreten Wandaufbau ab und müssen von den beteiligten Fachplanenden freigegeben werden. Auch Restfeuchte im Bestand ist projektbezogen zu bewerten. Einen weiterführenden Überblick zu nachträglichen Eingriffen sowie den passenden Beitrag zu benachbarten Wandaufbau-Themen finden Interessierte in den verknüpften Beiträgen.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Nachträgliche Eingriffe in Holzrahmenbauwände: Was vor jeder Aussparung zu prüfen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