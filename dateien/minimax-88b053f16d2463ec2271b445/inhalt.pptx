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rahmenbauberlin.wordpress.com/2026/10/25/werkvertrag-und-abnahme-beim-holzrahmenbau/" TargetMode="External"/><Relationship Id="rId3" Type="http://schemas.openxmlformats.org/officeDocument/2006/relationships/hyperlink" Target="https://holzundhaus.github.io/holzrahmenbauberlin/dateien/minimax-88b053f16d2463ec2271b44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Werkvertrag und Abnahme beim Holzrahmenbau: Was vor Auftrag und Übergabe geklärt sein muss · Erklärende Präsentation</a:t>
            </a:r>
          </a:p>
        </p:txBody>
      </p:sp>
      <p:sp>
        <p:nvSpPr>
          <p:cNvPr id="3" name="Content Placeholder 2"/>
          <p:cNvSpPr>
            <a:spLocks noGrp="1"/>
          </p:cNvSpPr>
          <p:nvPr>
            <p:ph idx="1"/>
          </p:nvPr>
        </p:nvSpPr>
        <p:spPr/>
        <p:txBody>
          <a:bodyPr/>
          <a:lstStyle/>
          <a:p>
            <a:r>
              <a:t>Überblick: Vor der Beauftragung eines Holzrahmenbauprojekts entscheidet der Werkvertrag darüber, welche Leistung geschuldet ist, wann sie fertig gestellt sein soll und was bei der Übergabe als abgenommen gilt. Das Angebot allein reicht dafür meist nicht: Eine klare Baubeschreibung, geregelte Fristen und ein nachvollziehbarer Zahlungsplan machen die vereinbarte Leistung überprüfbar. Auch die Abnahme sollte vorbereitet sein, damit sichtbare Mängel, Restleistungen und technische Besonderheiten zuverlässig dokumentiert werden. Die folgenden Punkte strukturieren das Vertragsgespräch und die gemeinsame Begehung vor der Übergabe.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und Baubeschreibung konkretisieren</a:t>
            </a:r>
          </a:p>
        </p:txBody>
      </p:sp>
      <p:sp>
        <p:nvSpPr>
          <p:cNvPr id="3" name="Content Placeholder 2"/>
          <p:cNvSpPr>
            <a:spLocks noGrp="1"/>
          </p:cNvSpPr>
          <p:nvPr>
            <p:ph idx="1"/>
          </p:nvPr>
        </p:nvSpPr>
        <p:spPr/>
        <p:txBody>
          <a:bodyPr/>
          <a:lstStyle/>
          <a:p>
            <a:pPr>
              <a:defRPr sz="1800"/>
            </a:pPr>
            <a:r>
              <a:t>Holzrahmenbau kann unterschiedliche Umfänge umfassen, etwa eine reine Tragkonstruktion, eine geschlossene Gebäudehülle oder ein bezugsfertiges Gebäude. Im Vertrag muss eindeutig feststehen, welche Variante beauftragt ist. Als Anlage sollte eine Baubeschreibung enthalten sein. Darin werden Materialien und Schichten des Wandaufbaus, Anschlüsse an Fenster, Sockel und Dach sowie vereinbarte bauphysikalische Eigenschaften wie Wärme-, Schall- und Feuchteschutz beschrieben. Der Hinweis auf eine Holzrahmenbauweise allein reicht nicht aus, um spätere Leistungsabweichungen zu beurteilen. Hilfreich ist ein Abgleich der offenen Punkte aus dem Angebotsver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Leistungsumfang und Baubeschreibung konkretisieren</a:t>
            </a:r>
          </a:p>
        </p:txBody>
      </p:sp>
      <p:sp>
        <p:nvSpPr>
          <p:cNvPr id="3" name="Content Placeholder 2"/>
          <p:cNvSpPr>
            <a:spLocks noGrp="1"/>
          </p:cNvSpPr>
          <p:nvPr>
            <p:ph idx="1"/>
          </p:nvPr>
        </p:nvSpPr>
        <p:spPr/>
        <p:txBody>
          <a:bodyPr/>
          <a:lstStyle/>
          <a:p>
            <a:pPr>
              <a:defRPr sz="1800"/>
            </a:pPr>
            <a:r>
              <a:t>gleich: Welche Details waren noch unklar und wurden sie in Vertrag und Anlage verbindlich geregelt?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Fristen, Zahlungen und Abhängigkeiten planen</a:t>
            </a:r>
          </a:p>
        </p:txBody>
      </p:sp>
      <p:sp>
        <p:nvSpPr>
          <p:cNvPr id="3" name="Content Placeholder 2"/>
          <p:cNvSpPr>
            <a:spLocks noGrp="1"/>
          </p:cNvSpPr>
          <p:nvPr>
            <p:ph idx="1"/>
          </p:nvPr>
        </p:nvSpPr>
        <p:spPr/>
        <p:txBody>
          <a:bodyPr/>
          <a:lstStyle/>
          <a:p>
            <a:pPr>
              <a:defRPr sz="1800"/>
            </a:pPr>
            <a:r>
              <a:t>Zu einer belastbaren Beauftragung gehören Angaben zu Beginn und Dauer der Montagearbeiten, wichtigen Zwischenterminen und Umgang mit Wetterereignissen, die den Ablauf verzögern. Auch Abhängigkeiten von Vorleistungen anderer Gewerke sollten berücksichtigt werden. Neben der Vergütung gehört ein Zahlungsplan in den Vertrag. Für jede Abschlagszahlung ist zu beschreiben, welcher Baufortschritt oder welche abgeschlossene Teilleistung die Voraussetzung bildet. Beispielsweise kann eine Zahlung an die fertig montierte Wandebene oder den geschlossenen Dachaufbau geknüpft werden. So bleibt nachvollziehbar, welche Leistung einen Anspruch auf eine Abschla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Fristen, Zahlungen und Abhängigkeiten planen</a:t>
            </a:r>
          </a:p>
        </p:txBody>
      </p:sp>
      <p:sp>
        <p:nvSpPr>
          <p:cNvPr id="3" name="Content Placeholder 2"/>
          <p:cNvSpPr>
            <a:spLocks noGrp="1"/>
          </p:cNvSpPr>
          <p:nvPr>
            <p:ph idx="1"/>
          </p:nvPr>
        </p:nvSpPr>
        <p:spPr/>
        <p:txBody>
          <a:bodyPr/>
          <a:lstStyle/>
          <a:p>
            <a:pPr>
              <a:defRPr sz="1800"/>
            </a:pPr>
            <a:r>
              <a:t>gszahlung auslöst und welche Arbeiten noch ausstehen.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Abnahme als gemeinsame Prüfung vorbereiten</a:t>
            </a:r>
          </a:p>
        </p:txBody>
      </p:sp>
      <p:sp>
        <p:nvSpPr>
          <p:cNvPr id="3" name="Content Placeholder 2"/>
          <p:cNvSpPr>
            <a:spLocks noGrp="1"/>
          </p:cNvSpPr>
          <p:nvPr>
            <p:ph idx="1"/>
          </p:nvPr>
        </p:nvSpPr>
        <p:spPr/>
        <p:txBody>
          <a:bodyPr/>
          <a:lstStyle/>
          <a:p>
            <a:pPr>
              <a:defRPr sz="1800"/>
            </a:pPr>
            <a:r>
              <a:t>Vor der Abnahme ist eine Begehung mit einer klaren Prüfstruktur sinnvoll. Zuerst werden Holzbauteile und Bekleidung visuell auf Feuchtigkeit, Verformungen, Risse und Beschädigungen untersucht. Anschließend folgen Anschlüsse und Übergänge an Fenstern, Sockeln, Dach und angrenzenden Bauteilen. Danach wird abgeglichen, ob Materialien, Schichtenaufbau und vereinbarte Leistungen der Baubeschreibung entsprechen. Auch der Witterungsschutz gehört geprüft, gegebenenfalls anhand der vereinbarten Dokumentation. Die Abnahme sollte nicht erst im Zeitdruck erfolgen. Gemeinsam können offene Punkte, fehlende Leistungen und sichtbare Mängel besser erfasst und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Abnahme als gemeinsame Prüfung vorbereiten</a:t>
            </a:r>
          </a:p>
        </p:txBody>
      </p:sp>
      <p:sp>
        <p:nvSpPr>
          <p:cNvPr id="3" name="Content Placeholder 2"/>
          <p:cNvSpPr>
            <a:spLocks noGrp="1"/>
          </p:cNvSpPr>
          <p:nvPr>
            <p:ph idx="1"/>
          </p:nvPr>
        </p:nvSpPr>
        <p:spPr/>
        <p:txBody>
          <a:bodyPr/>
          <a:lstStyle/>
          <a:p>
            <a:pPr>
              <a:defRPr sz="1800"/>
            </a:pPr>
            <a:r>
              <a:t> unmittelbar in ein Protokoll überführt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Protokoll, Vorbehalte und Mängel schriftlich festhalten</a:t>
            </a:r>
          </a:p>
        </p:txBody>
      </p:sp>
      <p:sp>
        <p:nvSpPr>
          <p:cNvPr id="3" name="Content Placeholder 2"/>
          <p:cNvSpPr>
            <a:spLocks noGrp="1"/>
          </p:cNvSpPr>
          <p:nvPr>
            <p:ph idx="1"/>
          </p:nvPr>
        </p:nvSpPr>
        <p:spPr/>
        <p:txBody>
          <a:bodyPr/>
          <a:lstStyle/>
          <a:p>
            <a:pPr>
              <a:defRPr sz="1800"/>
            </a:pPr>
            <a:r>
              <a:t>Das Abnahmeprotokoll dokumentiert den Zustand bei Übergabe. Festgehalten werden sollten insbesondere erkannte Mängel und ihre Frist zur Beseitigung, vorbehaltene Ansprüche wegen noch ausstehender Restleistungen sowie relevante Hinweise zum Feuchtezustand der Bauteile. Diese Angaben sind besonders wichtig, wenn Holzbauteile später durch Bekleidungen verdeckt werden. Ein nicht erörterter Mangel sollte deshalb nicht einfach unerwähnt bleiben. Wird während oder nach der Abnahme ein Mangel festgestellt, sollte die Anzeige mit Ort, Umfang und Beschreibung schriftlich erfolgen und die vereinbarte Bearbeitungsregel greifen. Zudem können im Vertrag Fr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Protokoll, Vorbehalte und Mängel schriftlich festhalten</a:t>
            </a:r>
          </a:p>
        </p:txBody>
      </p:sp>
      <p:sp>
        <p:nvSpPr>
          <p:cNvPr id="3" name="Content Placeholder 2"/>
          <p:cNvSpPr>
            <a:spLocks noGrp="1"/>
          </p:cNvSpPr>
          <p:nvPr>
            <p:ph idx="1"/>
          </p:nvPr>
        </p:nvSpPr>
        <p:spPr/>
        <p:txBody>
          <a:bodyPr/>
          <a:lstStyle/>
          <a:p>
            <a:pPr>
              <a:defRPr sz="1800"/>
            </a:pPr>
            <a:r>
              <a:t>isten für Mängelanzeigen sowie die weitere Vorgehensweise geregelt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Änderungen, Versicherungen und Haftung aktiv steuern</a:t>
            </a:r>
          </a:p>
        </p:txBody>
      </p:sp>
      <p:sp>
        <p:nvSpPr>
          <p:cNvPr id="3" name="Content Placeholder 2"/>
          <p:cNvSpPr>
            <a:spLocks noGrp="1"/>
          </p:cNvSpPr>
          <p:nvPr>
            <p:ph idx="1"/>
          </p:nvPr>
        </p:nvSpPr>
        <p:spPr/>
        <p:txBody>
          <a:bodyPr/>
          <a:lstStyle/>
          <a:p>
            <a:pPr>
              <a:defRPr sz="1800"/>
            </a:pPr>
            <a:r>
              <a:t>Während der Ausführung können Änderungswünsche entstehen, etwa ein anderes Fensterformat, zusätzliche Leitungswege oder Anpassungen an vorhandene Bauteile. Im Werkvertrag sollte deshalb ein Freigabeverfahren festgelegt sein. Sinnvoll ist, dass Änderungen nur schriftlich freigegeben werden und dabei Mehr- oder Minderkosten sowie Auswirkungen auf den Termin benannt werden. Ebenso wichtig ist die vertragliche Absicherung: Je nach Umfang und Projektdauer können Regelungen zur Bauleistungs- oder Montageversicherung, zur Haftung gegenüber Dritten und gegebenenfalls zu Vertragstrafen bei Terminüberschreitungen vereinbart werden. Pauschale Empfehlung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Änderungen, Versicherungen und Haftung aktiv steuern</a:t>
            </a:r>
          </a:p>
        </p:txBody>
      </p:sp>
      <p:sp>
        <p:nvSpPr>
          <p:cNvPr id="3" name="Content Placeholder 2"/>
          <p:cNvSpPr>
            <a:spLocks noGrp="1"/>
          </p:cNvSpPr>
          <p:nvPr>
            <p:ph idx="1"/>
          </p:nvPr>
        </p:nvSpPr>
        <p:spPr/>
        <p:txBody>
          <a:bodyPr/>
          <a:lstStyle/>
          <a:p>
            <a:pPr>
              <a:defRPr sz="1800"/>
            </a:pPr>
            <a:r>
              <a:t>en sind dafür nicht geeignet. Entscheidend ist, dass die getroffene Regelung zum konkreten Projekt passt und vor der Unterzeichnung verständlich ist.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Werkvertrag und Abnahme beim Holzrahmenbau: Was vor Auftrag und Übergabe geklärt sein muss</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