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rahmenbauberlin.blogspot.com/2026/10/nachhaltigkeit-im-holzrahmenbau.html" TargetMode="External"/><Relationship Id="rId3" Type="http://schemas.openxmlformats.org/officeDocument/2006/relationships/hyperlink" Target="https://holzundhaus.github.io/holzrahmenbauberlin/dateien/minimax-be08d4a8228bd464aa5264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Nachhaltigkeit im Holzrahmenbau: Holzherkunft, Zertifikate und Holzschutz realistisch einordnen · Erklärende Präsentation</a:t>
            </a:r>
          </a:p>
        </p:txBody>
      </p:sp>
      <p:sp>
        <p:nvSpPr>
          <p:cNvPr id="3" name="Content Placeholder 2"/>
          <p:cNvSpPr>
            <a:spLocks noGrp="1"/>
          </p:cNvSpPr>
          <p:nvPr>
            <p:ph idx="1"/>
          </p:nvPr>
        </p:nvSpPr>
        <p:spPr/>
        <p:txBody>
          <a:bodyPr/>
          <a:lstStyle/>
          <a:p>
            <a:r>
              <a:t>Überblick: Wer einen Holzrahmen plant, stößt schnell auf Begriffe wie „nachhaltig“, „zertifiziert“ oder „klimaneutral“. Entscheidend ist jedoch, was diese Begriffe im konkreten Bauprojekt tatsächlich belegen. Der folgende Leitfaden trennt Holzherkunft, Zertifizierung, konstruktiven Holzschutz und Dauerhaftigkeit voneinander. So lassen sich Angaben von Fachbetrieben prüfen, Versprechen einordnen und Fragen für die eigene Planung vorbereiten, ohne dass allgemeine Werbeformeln mit einem nachweisbaren Qualitätsmerkmal verwechselt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zur Holzherkunft sind belastbar?</a:t>
            </a:r>
          </a:p>
        </p:txBody>
      </p:sp>
      <p:sp>
        <p:nvSpPr>
          <p:cNvPr id="3" name="Content Placeholder 2"/>
          <p:cNvSpPr>
            <a:spLocks noGrp="1"/>
          </p:cNvSpPr>
          <p:nvPr>
            <p:ph idx="1"/>
          </p:nvPr>
        </p:nvSpPr>
        <p:spPr/>
        <p:txBody>
          <a:bodyPr/>
          <a:lstStyle/>
          <a:p>
            <a:pPr>
              <a:defRPr sz="1800"/>
            </a:pPr>
            <a:r>
              <a:t>Eine nachvollziehbare Herkunftsangabe nennt mindestens die Holzart, das Herkunftsland und idealerweise die Region. Wichtig ist außerdem, ob die Lieferkette bis zum Einschlagort zurückverfolgt werden kann oder ob lediglich eine Selbstdeklaration vorliegt. Bei einer rückverfolgbaren Kette lässt sich nachvollziehen, auf welchen Betrieben das Holz gewonnen, verarbeitet und weitergegeben wurde. Bei Birken, Fichten, Kiefern und Lärchen sind zudem Informationen zu Wachstum, Einschlag und Waldpflege verfügbar. Bei Konstruktionsvollholz, Brettschichtholz oder Brettsperrholz geben Leistungserklärung und CE- oder Ü-Kennzeichnung Auskunft über Holzart, 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zur Holzherkunft sind belastbar?</a:t>
            </a:r>
          </a:p>
        </p:txBody>
      </p:sp>
      <p:sp>
        <p:nvSpPr>
          <p:cNvPr id="3" name="Content Placeholder 2"/>
          <p:cNvSpPr>
            <a:spLocks noGrp="1"/>
          </p:cNvSpPr>
          <p:nvPr>
            <p:ph idx="1"/>
          </p:nvPr>
        </p:nvSpPr>
        <p:spPr/>
        <p:txBody>
          <a:bodyPr/>
          <a:lstStyle/>
          <a:p>
            <a:pPr>
              <a:defRPr sz="1800"/>
            </a:pPr>
            <a:r>
              <a:t>estigkeitsklasse und verwendete Klebstoffe. Wer regionale oder kurze Transportwege bevorzugt, sollte diese nicht nur pauschal fordern, sondern die konkrete Herkunft des eingesetzten Materials abfragen.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unterscheiden sich FSC und PEFC in der Praxis?</a:t>
            </a:r>
          </a:p>
        </p:txBody>
      </p:sp>
      <p:sp>
        <p:nvSpPr>
          <p:cNvPr id="3" name="Content Placeholder 2"/>
          <p:cNvSpPr>
            <a:spLocks noGrp="1"/>
          </p:cNvSpPr>
          <p:nvPr>
            <p:ph idx="1"/>
          </p:nvPr>
        </p:nvSpPr>
        <p:spPr/>
        <p:txBody>
          <a:bodyPr/>
          <a:lstStyle/>
          <a:p>
            <a:pPr>
              <a:defRPr sz="1800"/>
            </a:pPr>
            <a:r>
              <a:t>FSC und PEFC bewerten die Waldbewirtschaftung nach ökologischen, sozialen und wirtschaftlichen Kriterien, setzen aber unterschiedliche Schwerpunkte. FSC legt besonderes Gewicht auf biologische Vielfalt, den Schutz von Altwäldern und die Beteiligung indigener und lokaler Gemeinschaften. PEFC ist stärker auf europäische Forststrukturen zugeschnitten und integriert nationale Indikatoren. In vielen europäischen Wäldern ist PEFC verbreiteter, während FSC-Anteile regional unterschiedlich ausfallen. Ein Bauteil darf nur dann als FSC- oder PEFC-zertifiziert bezeichnet werden, wenn die relevanten Glieder der Lieferkette jeweils zertifiziert sind und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unterscheiden sich FSC und PEFC in der Praxis?</a:t>
            </a:r>
          </a:p>
        </p:txBody>
      </p:sp>
      <p:sp>
        <p:nvSpPr>
          <p:cNvPr id="3" name="Content Placeholder 2"/>
          <p:cNvSpPr>
            <a:spLocks noGrp="1"/>
          </p:cNvSpPr>
          <p:nvPr>
            <p:ph idx="1"/>
          </p:nvPr>
        </p:nvSpPr>
        <p:spPr/>
        <p:txBody>
          <a:bodyPr/>
          <a:lstStyle/>
          <a:p>
            <a:pPr>
              <a:defRPr sz="1800"/>
            </a:pPr>
            <a:r>
              <a:t>ine Rückverfolgung nachgewiesen werden kann. Das Zertifikat bezieht sich dabei auf die Waldbewirtschaftung, nicht auf die Lebensdauer, Stabilität oder Ausführungsqualität des fertigen Bauteils. Auch regionaler Eigenwald oder der Einsatz von Restholz sind eigenständige Kategorien und keine automatische Zertifizierung.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muss das Zertifikat in der Beratung offenlegen?</a:t>
            </a:r>
          </a:p>
        </p:txBody>
      </p:sp>
      <p:sp>
        <p:nvSpPr>
          <p:cNvPr id="3" name="Content Placeholder 2"/>
          <p:cNvSpPr>
            <a:spLocks noGrp="1"/>
          </p:cNvSpPr>
          <p:nvPr>
            <p:ph idx="1"/>
          </p:nvPr>
        </p:nvSpPr>
        <p:spPr/>
        <p:txBody>
          <a:bodyPr/>
          <a:lstStyle/>
          <a:p>
            <a:pPr>
              <a:defRPr sz="1800"/>
            </a:pPr>
            <a:r>
              <a:t>Eine seriöse Beratung legt offen, welches Zertifikatssystem, welche Zertifikatsnummer und welcher Umfang gelten. Hilfreich ist außerdem ein Chain-of-Custody-Nachweis, der die lückenlose Rückverfolgung zwischen Forstbetrieb, Sägewerk, Handel, Holzbaubetrieb und Bauteil belegt. Formulierungen wie „100 Prozent nachhaltiges Holz“ sind ohne weitere Erläuterung keine ausreichende Qualitätsangabe. Sinnvoll sind konkrete Rückfragen: Ist jedes beteiligte Unternehmen in der Lieferkette zertifiziert? Gilt die Zertifizierung für die tatsächlich verwendete Charge? Lässt sich die Kette bis zur Herkunft verfolgen? Werden Angaben zu Holzart, Region und Verar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muss das Zertifikat in der Beratung offenlegen?</a:t>
            </a:r>
          </a:p>
        </p:txBody>
      </p:sp>
      <p:sp>
        <p:nvSpPr>
          <p:cNvPr id="3" name="Content Placeholder 2"/>
          <p:cNvSpPr>
            <a:spLocks noGrp="1"/>
          </p:cNvSpPr>
          <p:nvPr>
            <p:ph idx="1"/>
          </p:nvPr>
        </p:nvSpPr>
        <p:spPr/>
        <p:txBody>
          <a:bodyPr/>
          <a:lstStyle/>
          <a:p>
            <a:pPr>
              <a:defRPr sz="1800"/>
            </a:pPr>
            <a:r>
              <a:t>beitung getrennt bestätigt? Diese Fragen schaffen Klarheit, ohne dass ein Zertifikat über die tatsächliche Nachhaltigkeit des gesamten Gebäudes hinaus verallgemeinert werden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schützt konstruktiver Holzschutz das Bauteil?</a:t>
            </a:r>
          </a:p>
        </p:txBody>
      </p:sp>
      <p:sp>
        <p:nvSpPr>
          <p:cNvPr id="3" name="Content Placeholder 2"/>
          <p:cNvSpPr>
            <a:spLocks noGrp="1"/>
          </p:cNvSpPr>
          <p:nvPr>
            <p:ph idx="1"/>
          </p:nvPr>
        </p:nvSpPr>
        <p:spPr/>
        <p:txBody>
          <a:bodyPr/>
          <a:lstStyle/>
          <a:p>
            <a:pPr>
              <a:defRPr sz="1800"/>
            </a:pPr>
            <a:r>
              <a:t>Nachhaltigkeit endet nicht beim Rohstoff. Entscheidend ist, wie lange das Bauteil trocken und funktionsfähig bleibt. Im Holzrahmenbau hat der konstruktive Holzschutz Vorrang: Hinterlüftete Fassaden, ausreichende Dachüberstände, UV-stabile Fassadenbahnen und durchdachte Detailanschlüsse sollen Feuchte abhalten oder kontrolliert abführen. Während Transport, Lagerung und Montage müssen Bauteile abgedeckt und zügig eingebaut werden. Außenbauteile, Innenbauteile und erdberührte oder stark beanspruchte Holzteile benötigen unterschiedliche Lösungen. Abdeckungen, Bleche und ausreichende Tropfkanten können Wasser fernhalten. Chemischer Holzschutz ist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schützt konstruktiver Holzschutz das Bauteil?</a:t>
            </a:r>
          </a:p>
        </p:txBody>
      </p:sp>
      <p:sp>
        <p:nvSpPr>
          <p:cNvPr id="3" name="Content Placeholder 2"/>
          <p:cNvSpPr>
            <a:spLocks noGrp="1"/>
          </p:cNvSpPr>
          <p:nvPr>
            <p:ph idx="1"/>
          </p:nvPr>
        </p:nvSpPr>
        <p:spPr/>
        <p:txBody>
          <a:bodyPr/>
          <a:lstStyle/>
          <a:p>
            <a:pPr>
              <a:defRPr sz="1800"/>
            </a:pPr>
            <a:r>
              <a:t>nach DIN 68800 die Ausnahme und sollte nur eingesetzt werden, wenn konstruktive Maßnahmen technisch nicht möglich sind. Entscheidend ist daher nicht allein die Abwesenheit chemischer Mittel, sondern deren gezielter Einsatz bei erkennbaren Risiken.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helfen bei der Auswahl eines Fachbetriebs?</a:t>
            </a:r>
          </a:p>
        </p:txBody>
      </p:sp>
      <p:sp>
        <p:nvSpPr>
          <p:cNvPr id="3" name="Content Placeholder 2"/>
          <p:cNvSpPr>
            <a:spLocks noGrp="1"/>
          </p:cNvSpPr>
          <p:nvPr>
            <p:ph idx="1"/>
          </p:nvPr>
        </p:nvSpPr>
        <p:spPr/>
        <p:txBody>
          <a:bodyPr/>
          <a:lstStyle/>
          <a:p>
            <a:pPr>
              <a:defRPr sz="1800"/>
            </a:pPr>
            <a:r>
              <a:t>Für die Angebots- und Beratungsgespräche hilft ein kurzer Fragenkatalog. Welche Holzarten werden für das konkrete Tragwerk, die Fassade, die Dämmung oder den Ausbau eingesetzt? Welche Herkunft und Lieferkette können nachgewiesen werden? Welche Zertifizierung gilt für das tatsächlich verbaute Material? Welche Produkteigenschaften sind in der Leistungserklärung dokumentiert? Wie werden Feuchte im Aufbau, am Anschluss und während der Bauphase kontrolliert? Welche Details sichern die Dauerhaftigkeit, und wo wäre eine chemische Behandlung erforderlich? Für eine weiterführende Orientierung bietet die Website zum Holzrahmenbau in Berlin sowie der 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helfen bei der Auswahl eines Fachbetriebs?</a:t>
            </a:r>
          </a:p>
        </p:txBody>
      </p:sp>
      <p:sp>
        <p:nvSpPr>
          <p:cNvPr id="3" name="Content Placeholder 2"/>
          <p:cNvSpPr>
            <a:spLocks noGrp="1"/>
          </p:cNvSpPr>
          <p:nvPr>
            <p:ph idx="1"/>
          </p:nvPr>
        </p:nvSpPr>
        <p:spPr/>
        <p:txBody>
          <a:bodyPr/>
          <a:lstStyle/>
          <a:p>
            <a:pPr>
              <a:defRPr sz="1800"/>
            </a:pPr>
            <a:r>
              <a:t>rtige Beitrag zur nachhaltigen Planung ergänzende Fachinformationen. Ziel ist nicht, möglichst viele Siegel zu sammeln, sondern für jedes Bauteil eine nachvollziehbare Kette aus Materialnachweis, geeigneter Konstruktion und passendem Holzschutz zu erhalten.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Nachhaltigkeit im Holzrahmenbau: Holzherkunft, Zertifikate und Holzschutz realistisch einordnen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